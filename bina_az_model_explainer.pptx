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E75B6">
              <a:alpha val="25000"/>
            </a:srgbClr>
          </a:solidFill>
          <a:ln w="12700">
            <a:solidFill>
              <a:srgbClr val="2E75B6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C49A3C">
              <a:alpha val="30000"/>
            </a:srgbClr>
          </a:solidFill>
          <a:ln w="12700">
            <a:solidFill>
              <a:srgbClr val="C49A3C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63040"/>
            <a:ext cx="73152" cy="2103120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6217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Bina.az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Model Works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conceptual guide to ML-powered real estate price prediction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663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bina.az  ·  Baku Real Estate AI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949440" y="914400"/>
            <a:ext cx="1645920" cy="1645920"/>
          </a:xfrm>
          <a:prstGeom prst="ellipse">
            <a:avLst/>
          </a:prstGeom>
          <a:solidFill>
            <a:srgbClr val="C49A3C">
              <a:alpha val="80000"/>
            </a:srgbClr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95160" y="1005840"/>
            <a:ext cx="1554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🏠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Picture: From Raw Data to Price Estimate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2651760" cy="1097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097280"/>
            <a:ext cx="731520" cy="731520"/>
          </a:xfrm>
          <a:prstGeom prst="ellipse">
            <a:avLst/>
          </a:prstGeom>
          <a:solidFill>
            <a:srgbClr val="2E75B6">
              <a:alpha val="15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" y="2651760"/>
            <a:ext cx="2331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(bina_scraper.py) scrapes listings from bina.az — price, area, rooms, floor, district, building type and more — and saves them to a CSV file.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86868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868680"/>
            <a:ext cx="2651760" cy="1097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0" y="1097280"/>
            <a:ext cx="731520" cy="731520"/>
          </a:xfrm>
          <a:prstGeom prst="ellipse">
            <a:avLst/>
          </a:prstGeom>
          <a:solidFill>
            <a:srgbClr val="2D6A4F">
              <a:alpha val="15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83280" y="1920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10712" y="2651760"/>
            <a:ext cx="2331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reads the CSV, engineers features, and trains a Gradient Boosting model. It learns the statistical relationship between property attributes and price.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86868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868680"/>
            <a:ext cx="2651760" cy="109728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1097280"/>
            <a:ext cx="731520" cy="731520"/>
          </a:xfrm>
          <a:prstGeom prst="ellipse">
            <a:avLst/>
          </a:prstGeom>
          <a:solidFill>
            <a:srgbClr val="C49A3C">
              <a:alpha val="15000"/>
            </a:srgbClr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660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63640" y="1920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Price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91072" y="2651760"/>
            <a:ext cx="2331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enter details of any apartment. The trained model instantly outputs an estimated price in AZN, with a confidence range.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063240" y="2468880"/>
            <a:ext cx="164592" cy="109728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91256" y="237744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A99"/>
                </a:solidFill>
              </a:rPr>
              <a:t>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43600" y="2468880"/>
            <a:ext cx="164592" cy="109728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71616" y="237744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A99"/>
                </a:solidFill>
              </a:rPr>
              <a:t>▶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improves as more listings are scraped — more data = better predictions.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In: The Features (Inputs) the Model Uses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8404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384048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inputs from bina.az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3716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12848" y="13716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rooms (1–5+)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1051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18105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(m²)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12848" y="18105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space in square metres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24942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2494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/ Total floors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12848" y="224942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7th floor of a 16-storey building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2688336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26883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type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12848" y="268833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build (Yeni tikili) vs old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3127248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📍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31272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12848" y="312724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Nəsimi, Səbail, Binəqədi, etc.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356616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🔧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35661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12848" y="35661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Renovated or bare shell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400507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📄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400507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of sale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12848" y="40050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Kupça / Çıxarış document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5196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133088" y="2926080"/>
            <a:ext cx="694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251960" y="2331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5B6"/>
                </a:solidFill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892040" y="822960"/>
            <a:ext cx="3931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92040" y="822960"/>
            <a:ext cx="393192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8229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 (what the model actually sees)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83480" y="1399032"/>
            <a:ext cx="73152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38928" y="135331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log(area)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38928" y="158191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diminishing returns — going from 40→60m² adds more value than 140→160m²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983480" y="1920240"/>
            <a:ext cx="73152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38928" y="1874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√area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38928" y="21031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transform to capture non-linear size effect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983480" y="2441448"/>
            <a:ext cx="73152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38928" y="239572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ratio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38928" y="262432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÷ total_floors — e.g. 0.44 means 44% up the building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983480" y="2962656"/>
            <a:ext cx="73152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38928" y="291693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index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138928" y="314553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district gets a price multiplier based on historical average (Səbail ~1.5×, Binəqədi ~0.9×)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983480" y="3483864"/>
            <a:ext cx="73152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38928" y="343814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is_new_build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38928" y="366674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flag — new builds typically cost 10–40% more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983480" y="4005072"/>
            <a:ext cx="73152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38928" y="39593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is_high_floor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138928" y="418795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for floor ≥ 5 — high floors command a small premium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engineer features? Raw numbers aren't always linear — the model performs better when inputs reflect the true shape of the relationship.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Model: How Gradient Boosting Learns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503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Analogy: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91640" y="850392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asking 300 estate agents, each one specialising in correcting the mistakes of the last. The final price is their combined consensus — no single agent is an expert, but together they're very accurate.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874520"/>
            <a:ext cx="20116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874520"/>
            <a:ext cx="2011680" cy="91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993392"/>
            <a:ext cx="640080" cy="6400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9933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simple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" y="3127248"/>
            <a:ext cx="180136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an initial rough guess for every apartment — e.g. the average price of all listings.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286000" y="2971800"/>
            <a:ext cx="155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A99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441448" y="1874520"/>
            <a:ext cx="20116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41448" y="1874520"/>
            <a:ext cx="2011680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27248" y="1993392"/>
            <a:ext cx="640080" cy="64008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27248" y="19933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532888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errors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51176" y="3127248"/>
            <a:ext cx="180136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how far off each guess was. An apartment guessed at 80k but priced at 120k has an error of +40k.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53128" y="2971800"/>
            <a:ext cx="155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A99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08576" y="1874520"/>
            <a:ext cx="20116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08576" y="1874520"/>
            <a:ext cx="2011680" cy="914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94376" y="1993392"/>
            <a:ext cx="640080" cy="6400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94376" y="19933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700016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corrector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18304" y="3127248"/>
            <a:ext cx="180136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small decision tree that specifically predicts those errors. Add its corrections to the previous guesses.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620256" y="2971800"/>
            <a:ext cx="155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A99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775704" y="1874520"/>
            <a:ext cx="20116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75704" y="1874520"/>
            <a:ext cx="2011680" cy="91440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61504" y="1993392"/>
            <a:ext cx="640080" cy="640080"/>
          </a:xfrm>
          <a:prstGeom prst="ellipse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61504" y="19933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867144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300×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85432" y="3127248"/>
            <a:ext cx="180136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tree fixes the remaining errors from the last. After 300 rounds, the cumulative model is highly accurate.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R² = 0.977 on sample data — meaning the model explains 97.7% of the variation in apartment prices.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Drives Apartment Prices in Baku?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(how much each factor contributes to predictions)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17043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(m²)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57400" y="1234440"/>
            <a:ext cx="4389120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57400" y="1234440"/>
            <a:ext cx="4389120" cy="2194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17043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+0.69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6459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index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57400" y="1709928"/>
            <a:ext cx="4389120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1709928"/>
            <a:ext cx="3730752" cy="21945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6459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+0.65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21214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build flag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57400" y="2185416"/>
            <a:ext cx="4389120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57400" y="2185416"/>
            <a:ext cx="2721254" cy="21945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212140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+0.35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259689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ratio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57400" y="2660904"/>
            <a:ext cx="4389120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57400" y="2660904"/>
            <a:ext cx="1667866" cy="219456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259689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+0.18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307238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057400" y="3136392"/>
            <a:ext cx="4389120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57400" y="3136392"/>
            <a:ext cx="1316736" cy="219456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307238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+0.15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354787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057400" y="3611880"/>
            <a:ext cx="4389120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57400" y="3611880"/>
            <a:ext cx="965606" cy="219456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354787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+0.12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40233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of sale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057400" y="4087368"/>
            <a:ext cx="4389120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57400" y="4087368"/>
            <a:ext cx="658368" cy="219456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40233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+0.09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589520" y="777240"/>
            <a:ext cx="1371600" cy="3749040"/>
          </a:xfrm>
          <a:prstGeom prst="rect">
            <a:avLst/>
          </a:prstGeom>
          <a:solidFill>
            <a:srgbClr val="EFF6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0" y="8046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635240" y="13258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Size is king — biggest driver by far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635240" y="20116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Location premium: Səbail costs ~70% more than Binəqədi per m²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635240" y="26974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New builds add 10–40% vs old buildings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635240" y="33832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High floors add modest value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Pearson correlation coefficient. Values closer to ±1.0 indicate stronger linear relationships with price.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Price Predictor: A Worked Example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233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402336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You Enter: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54864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984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59152" y="12984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10512"/>
            <a:ext cx="54864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373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59152" y="17373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m²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249424"/>
            <a:ext cx="54864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762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59152" y="21762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8th of 16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688336"/>
            <a:ext cx="54864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61518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type: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59152" y="261518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build (Yeni tikili)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127248"/>
            <a:ext cx="54864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0540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59152" y="30540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Yasamal (index: 1.25)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566160"/>
            <a:ext cx="54864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4930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Renovation: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59152" y="34930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005072"/>
            <a:ext cx="54864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9319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of sale: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359152" y="39319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(Çıxarış)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8912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E75B6"/>
                </a:solidFill>
              </a:rPr>
              <a:t>→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4315968" y="301752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92040" y="804672"/>
            <a:ext cx="3931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92040" y="804672"/>
            <a:ext cx="393192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80467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Model Outputs: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92040" y="13716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₼ 187,400</a:t>
            </a:r>
            <a:endParaRPr lang="en-US" sz="4200" dirty="0"/>
          </a:p>
        </p:txBody>
      </p:sp>
      <p:sp>
        <p:nvSpPr>
          <p:cNvPr id="34" name="Text 32"/>
          <p:cNvSpPr/>
          <p:nvPr/>
        </p:nvSpPr>
        <p:spPr>
          <a:xfrm>
            <a:off x="4892040" y="2240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Market Value (AZN)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74920" y="2651760"/>
            <a:ext cx="3566160" cy="548640"/>
          </a:xfrm>
          <a:prstGeom prst="rect">
            <a:avLst/>
          </a:prstGeom>
          <a:solidFill>
            <a:srgbClr val="F0FDF4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4920" y="26517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range:  ₼163,000 – ₼212,000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0" y="33375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
</a:t>
            </a:r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Score: </a:t>
            </a:r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0.977   </a:t>
            </a:r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Error: </a:t>
            </a:r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±₼19,400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0" y="4160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range reflects the model's average error (RMSE). Real prices may vary based on negotiation, photos, and demand.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use the predictor: open bina_az_pricing_analysis.ipynb in Google Colab → scroll to the last cell → edit the property details → run the cell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2026-03-14T15:58:25Z</dcterms:created>
  <dcterms:modified xsi:type="dcterms:W3CDTF">2026-03-14T15:58:25Z</dcterms:modified>
</cp:coreProperties>
</file>